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embeddedFontLst>
    <p:embeddedFont>
      <p:font typeface="Garamond" panose="02020404030301010803" pitchFamily="18" charset="0"/>
      <p:regular r:id="rId9"/>
      <p:bold r:id="rId10"/>
      <p:italic r:id="rId11"/>
    </p:embeddedFont>
    <p:embeddedFont>
      <p:font typeface="Oswald" panose="00000500000000000000" pitchFamily="2" charset="0"/>
      <p:regular r:id="rId12"/>
      <p:bold r:id="rId1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9" roundtripDataSignature="AMtx7mjh2le2S78G+d43hnL7hqE1scHUE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2" Type="http://schemas.openxmlformats.org/officeDocument/2006/relationships/slide" Target="slides/slide1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23" Type="http://schemas.openxmlformats.org/officeDocument/2006/relationships/tableStyles" Target="tableStyles.xml"/><Relationship Id="rId10" Type="http://schemas.openxmlformats.org/officeDocument/2006/relationships/font" Target="fonts/font2.fntdata"/><Relationship Id="rId19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96" name="Google Shape;9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08" name="Google Shape;108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20" name="Google Shape;12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4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32" name="Google Shape;13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5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44" name="Google Shape;144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6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9"/>
          <p:cNvSpPr txBox="1"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9"/>
          <p:cNvSpPr txBox="1"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0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0"/>
          <p:cNvSpPr txBox="1">
            <a:spLocks noGrp="1"/>
          </p:cNvSpPr>
          <p:nvPr>
            <p:ph type="body" idx="1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10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0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0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1"/>
          <p:cNvSpPr txBox="1"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1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2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2"/>
          <p:cNvSpPr txBox="1">
            <a:spLocks noGrp="1"/>
          </p:cNvSpPr>
          <p:nvPr>
            <p:ph type="body" idx="1"/>
          </p:nvPr>
        </p:nvSpPr>
        <p:spPr>
          <a:xfrm>
            <a:off x="609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12"/>
          <p:cNvSpPr txBox="1">
            <a:spLocks noGrp="1"/>
          </p:cNvSpPr>
          <p:nvPr>
            <p:ph type="body" idx="2"/>
          </p:nvPr>
        </p:nvSpPr>
        <p:spPr>
          <a:xfrm>
            <a:off x="6197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1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3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3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3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13"/>
          <p:cNvSpPr txBox="1">
            <a:spLocks noGrp="1"/>
          </p:cNvSpPr>
          <p:nvPr>
            <p:ph type="body" idx="3"/>
          </p:nvPr>
        </p:nvSpPr>
        <p:spPr>
          <a:xfrm>
            <a:off x="6193369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3"/>
          <p:cNvSpPr txBox="1">
            <a:spLocks noGrp="1"/>
          </p:cNvSpPr>
          <p:nvPr>
            <p:ph type="body" idx="4"/>
          </p:nvPr>
        </p:nvSpPr>
        <p:spPr>
          <a:xfrm>
            <a:off x="6193369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13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3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4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4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4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5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6"/>
          <p:cNvSpPr txBox="1"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6"/>
          <p:cNvSpPr txBox="1">
            <a:spLocks noGrp="1"/>
          </p:cNvSpPr>
          <p:nvPr>
            <p:ph type="body" idx="1"/>
          </p:nvPr>
        </p:nvSpPr>
        <p:spPr>
          <a:xfrm>
            <a:off x="4766733" y="273053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16"/>
          <p:cNvSpPr txBox="1">
            <a:spLocks noGrp="1"/>
          </p:cNvSpPr>
          <p:nvPr>
            <p:ph type="body" idx="2"/>
          </p:nvPr>
        </p:nvSpPr>
        <p:spPr>
          <a:xfrm>
            <a:off x="609602" y="1435103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2" name="Google Shape;62;p16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6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7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7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9" name="Google Shape;69;p17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7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7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8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8"/>
          <p:cNvSpPr txBox="1">
            <a:spLocks noGrp="1"/>
          </p:cNvSpPr>
          <p:nvPr>
            <p:ph type="body" idx="1"/>
          </p:nvPr>
        </p:nvSpPr>
        <p:spPr>
          <a:xfrm rot="5400000">
            <a:off x="3580606" y="-1875631"/>
            <a:ext cx="5030788" cy="109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8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8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9"/>
          <p:cNvSpPr txBox="1">
            <a:spLocks noGrp="1"/>
          </p:cNvSpPr>
          <p:nvPr>
            <p:ph type="title"/>
          </p:nvPr>
        </p:nvSpPr>
        <p:spPr>
          <a:xfrm rot="5400000">
            <a:off x="7285038" y="1828804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9"/>
          <p:cNvSpPr txBox="1">
            <a:spLocks noGrp="1"/>
          </p:cNvSpPr>
          <p:nvPr>
            <p:ph type="body" idx="1"/>
          </p:nvPr>
        </p:nvSpPr>
        <p:spPr>
          <a:xfrm rot="5400000">
            <a:off x="1697038" y="-812796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8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  <p:sp>
        <p:nvSpPr>
          <p:cNvPr id="11" name="Google Shape;11;p8"/>
          <p:cNvSpPr txBox="1">
            <a:spLocks noGrp="1"/>
          </p:cNvSpPr>
          <p:nvPr>
            <p:ph type="body" idx="1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8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8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verra.org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hyperlink" Target="fao.org" TargetMode="External"/><Relationship Id="rId4" Type="http://schemas.openxmlformats.org/officeDocument/2006/relationships/hyperlink" Target="worldbank.org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/>
          <p:nvPr/>
        </p:nvSpPr>
        <p:spPr>
          <a:xfrm>
            <a:off x="1524000" y="0"/>
            <a:ext cx="9144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"/>
          <p:cNvSpPr/>
          <p:nvPr/>
        </p:nvSpPr>
        <p:spPr>
          <a:xfrm>
            <a:off x="5656780" y="851521"/>
            <a:ext cx="4638605" cy="5154967"/>
          </a:xfrm>
          <a:custGeom>
            <a:avLst/>
            <a:gdLst/>
            <a:ahLst/>
            <a:cxnLst/>
            <a:rect l="l" t="t" r="r" b="b"/>
            <a:pathLst>
              <a:path w="6184806" h="5154967" extrusionOk="0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rgbClr val="7F7F7F">
              <a:alpha val="14902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"/>
          <p:cNvSpPr txBox="1"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TITLE PAGE</a:t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1" name="Google Shape;91;p1"/>
          <p:cNvSpPr txBox="1"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BITSHIFT 2026</a:t>
            </a:r>
            <a:endParaRPr sz="4000" b="1">
              <a:solidFill>
                <a:schemeClr val="dk2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331285" y="1731971"/>
            <a:ext cx="11488240" cy="4801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Problem Statement ID – 06</a:t>
            </a:r>
            <a:endParaRPr dirty="0"/>
          </a:p>
          <a:p>
            <a:pPr marL="285750" indent="-285750" algn="just"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Problem Statement Title - </a:t>
            </a:r>
            <a:r>
              <a:rPr lang="en-IN" sz="2400" b="1" dirty="0"/>
              <a:t>Farmer Carbon Credit Readiness Assessment Platform</a:t>
            </a:r>
            <a:endParaRPr sz="2400" dirty="0"/>
          </a:p>
          <a:p>
            <a:pPr marL="285750" marR="0" lvl="0" indent="-28575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Theme - Agriculture</a:t>
            </a:r>
            <a:endParaRPr dirty="0"/>
          </a:p>
          <a:p>
            <a:pPr marL="285750" marR="0" lvl="0" indent="-28575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PS Category- Software</a:t>
            </a:r>
            <a:endParaRPr dirty="0"/>
          </a:p>
          <a:p>
            <a:pPr marL="285750" marR="0" lvl="0" indent="-28575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Team ID-</a:t>
            </a:r>
            <a:endParaRPr dirty="0"/>
          </a:p>
          <a:p>
            <a:pPr marL="285750" marR="0" lvl="0" indent="-28575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Team Name</a:t>
            </a:r>
            <a:r>
              <a:rPr lang="en-US" sz="2400" b="1" dirty="0">
                <a:solidFill>
                  <a:schemeClr val="dk1"/>
                </a:solidFill>
              </a:rPr>
              <a:t> - </a:t>
            </a:r>
            <a:r>
              <a:rPr lang="en-US" sz="2400" b="1" dirty="0" err="1">
                <a:solidFill>
                  <a:schemeClr val="dk1"/>
                </a:solidFill>
              </a:rPr>
              <a:t>Omnira</a:t>
            </a:r>
            <a:endParaRPr sz="2400" b="1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3" name="Google Shape;93;p1"/>
          <p:cNvPicPr preferRelativeResize="0"/>
          <p:nvPr/>
        </p:nvPicPr>
        <p:blipFill rotWithShape="1">
          <a:blip r:embed="rId3">
            <a:alphaModFix/>
          </a:blip>
          <a:srcRect r="13096" b="-9830"/>
          <a:stretch/>
        </p:blipFill>
        <p:spPr>
          <a:xfrm>
            <a:off x="9438825" y="212100"/>
            <a:ext cx="2380700" cy="1687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dist="23000" dir="5400000" rotWithShape="0">
              <a:srgbClr val="80808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2"/>
          <p:cNvSpPr txBox="1">
            <a:spLocks noGrp="1"/>
          </p:cNvSpPr>
          <p:nvPr>
            <p:ph type="title"/>
          </p:nvPr>
        </p:nvSpPr>
        <p:spPr>
          <a:xfrm>
            <a:off x="182998" y="-23292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3600" b="1" dirty="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3600" b="1" dirty="0" err="1">
                <a:latin typeface="Times New Roman"/>
                <a:ea typeface="Times New Roman"/>
                <a:cs typeface="Times New Roman"/>
                <a:sym typeface="Times New Roman"/>
              </a:rPr>
              <a:t>FarmerChoice</a:t>
            </a:r>
            <a:endParaRPr dirty="0"/>
          </a:p>
        </p:txBody>
      </p:sp>
      <p:sp>
        <p:nvSpPr>
          <p:cNvPr id="102" name="Google Shape;102;p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lt1"/>
                </a:solidFill>
              </a:rPr>
              <a:t>2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103" name="Google Shape;103;p2"/>
          <p:cNvSpPr txBox="1">
            <a:spLocks noGrp="1"/>
          </p:cNvSpPr>
          <p:nvPr>
            <p:ph type="ftr" idx="11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@BITSHIFT  Idea submission- Template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04" name="Google Shape;104;p2" descr="Your startup LOGO"/>
          <p:cNvSpPr/>
          <p:nvPr/>
        </p:nvSpPr>
        <p:spPr>
          <a:xfrm>
            <a:off x="243973" y="289937"/>
            <a:ext cx="1251857" cy="807334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u="sng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Omnira</a:t>
            </a:r>
            <a:endParaRPr sz="1800" u="sng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5" name="Google Shape;105;p2"/>
          <p:cNvPicPr preferRelativeResize="0"/>
          <p:nvPr/>
        </p:nvPicPr>
        <p:blipFill rotWithShape="1">
          <a:blip r:embed="rId3">
            <a:alphaModFix/>
          </a:blip>
          <a:srcRect r="13096" b="-9830"/>
          <a:stretch/>
        </p:blipFill>
        <p:spPr>
          <a:xfrm>
            <a:off x="9438825" y="121307"/>
            <a:ext cx="2380700" cy="16875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" name="Group 24">
            <a:extLst>
              <a:ext uri="{FF2B5EF4-FFF2-40B4-BE49-F238E27FC236}">
                <a16:creationId xmlns:a16="http://schemas.microsoft.com/office/drawing/2014/main" id="{105FE728-A077-40A3-7400-01D920592F6C}"/>
              </a:ext>
            </a:extLst>
          </p:cNvPr>
          <p:cNvGrpSpPr/>
          <p:nvPr/>
        </p:nvGrpSpPr>
        <p:grpSpPr>
          <a:xfrm>
            <a:off x="212494" y="1356028"/>
            <a:ext cx="9150061" cy="1518449"/>
            <a:chOff x="182998" y="1395356"/>
            <a:chExt cx="9150061" cy="1518449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4750E12E-3794-4417-4BD1-F5777DCE6A5B}"/>
                </a:ext>
              </a:extLst>
            </p:cNvPr>
            <p:cNvSpPr/>
            <p:nvPr/>
          </p:nvSpPr>
          <p:spPr>
            <a:xfrm>
              <a:off x="182998" y="1395357"/>
              <a:ext cx="9150061" cy="1518448"/>
            </a:xfrm>
            <a:prstGeom prst="roundRect">
              <a:avLst/>
            </a:prstGeom>
            <a:solidFill>
              <a:schemeClr val="bg2">
                <a:lumMod val="20000"/>
                <a:lumOff val="80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3A3FCEA4-972C-E7BB-826E-DBD1126FE891}"/>
                </a:ext>
              </a:extLst>
            </p:cNvPr>
            <p:cNvSpPr txBox="1"/>
            <p:nvPr/>
          </p:nvSpPr>
          <p:spPr>
            <a:xfrm>
              <a:off x="211107" y="1395356"/>
              <a:ext cx="381491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buFont typeface="Wingdings" panose="05000000000000000000" pitchFamily="2" charset="2"/>
                <a:buChar char="Ø"/>
              </a:pPr>
              <a:r>
                <a:rPr lang="en-IN" sz="2400" b="1" u="sng" dirty="0">
                  <a:solidFill>
                    <a:schemeClr val="accent1">
                      <a:lumMod val="75000"/>
                    </a:schemeClr>
                  </a:solidFill>
                </a:rPr>
                <a:t>Proposed</a:t>
              </a:r>
              <a:r>
                <a:rPr lang="en-IN" sz="2400" b="1" dirty="0">
                  <a:solidFill>
                    <a:schemeClr val="accent1">
                      <a:lumMod val="75000"/>
                    </a:schemeClr>
                  </a:solidFill>
                </a:rPr>
                <a:t> </a:t>
              </a:r>
              <a:r>
                <a:rPr lang="en-IN" sz="2400" b="1" u="sng" dirty="0">
                  <a:solidFill>
                    <a:schemeClr val="accent1">
                      <a:lumMod val="75000"/>
                    </a:schemeClr>
                  </a:solidFill>
                </a:rPr>
                <a:t>Solution</a:t>
              </a:r>
              <a:r>
                <a:rPr lang="en-IN" sz="2400" b="1" dirty="0">
                  <a:solidFill>
                    <a:schemeClr val="accent1">
                      <a:lumMod val="75000"/>
                    </a:schemeClr>
                  </a:solidFill>
                </a:rPr>
                <a:t>:-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4E362735-ADC8-5ECE-1F17-9D0D224B1633}"/>
                </a:ext>
              </a:extLst>
            </p:cNvPr>
            <p:cNvSpPr txBox="1"/>
            <p:nvPr/>
          </p:nvSpPr>
          <p:spPr>
            <a:xfrm>
              <a:off x="545885" y="1808857"/>
              <a:ext cx="8787174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600" dirty="0"/>
                <a:t>It is an AI-powered readiness assessment platform that helps farmers understand their preparedness for carbon-credit programs by analysing their </a:t>
              </a:r>
              <a:r>
                <a:rPr lang="en-IN" sz="1600" b="1" dirty="0"/>
                <a:t>farming practices, land information, crop history, input usage, irrigation, soil management and available documentation.</a:t>
              </a:r>
              <a:endParaRPr lang="en-IN" sz="1600" dirty="0"/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80F708BE-C07F-5FDA-274A-FDF41F358D2E}"/>
              </a:ext>
            </a:extLst>
          </p:cNvPr>
          <p:cNvSpPr txBox="1"/>
          <p:nvPr/>
        </p:nvSpPr>
        <p:spPr>
          <a:xfrm>
            <a:off x="282804" y="2927485"/>
            <a:ext cx="93133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b="1" dirty="0"/>
              <a:t>What </a:t>
            </a:r>
            <a:r>
              <a:rPr lang="en-IN" sz="2000" b="1" dirty="0" err="1"/>
              <a:t>FarmerChoice</a:t>
            </a:r>
            <a:r>
              <a:rPr lang="en-IN" sz="2000" b="1" dirty="0"/>
              <a:t> Does:-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44667F9-58B2-D4E5-0083-2A3E193AB136}"/>
              </a:ext>
            </a:extLst>
          </p:cNvPr>
          <p:cNvSpPr txBox="1"/>
          <p:nvPr/>
        </p:nvSpPr>
        <p:spPr>
          <a:xfrm>
            <a:off x="545885" y="3204361"/>
            <a:ext cx="8674706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Assesses farmer readiness</a:t>
            </a:r>
            <a:r>
              <a:rPr lang="en-IN" dirty="0"/>
              <a:t> for carbon-credit programs based on farm information, practices and records.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Evaluates sustainable farming practices</a:t>
            </a:r>
            <a:r>
              <a:rPr lang="en-IN" dirty="0"/>
              <a:t> such as irrigation, soil management, crop rotation and residue management.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Identifies documentation gaps</a:t>
            </a:r>
            <a:r>
              <a:rPr lang="en-IN" dirty="0"/>
              <a:t> by checking the availability of land, crop, input and soil-related records.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Highlights areas for improvement</a:t>
            </a:r>
            <a:r>
              <a:rPr lang="en-IN" dirty="0"/>
              <a:t> where farming practices or required information may be insufficient.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Converts the assessment into an actionable recommendation:</a:t>
            </a:r>
            <a:endParaRPr lang="en-I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94B6903-D418-3723-19AD-1AE163BA975A}"/>
              </a:ext>
            </a:extLst>
          </p:cNvPr>
          <p:cNvSpPr txBox="1"/>
          <p:nvPr/>
        </p:nvSpPr>
        <p:spPr>
          <a:xfrm>
            <a:off x="243973" y="4729773"/>
            <a:ext cx="9278530" cy="870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b="1" dirty="0"/>
              <a:t>Innovation / Uniqueness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3992AD0-0F2D-CC67-E09A-3C8A5A14671C}"/>
              </a:ext>
            </a:extLst>
          </p:cNvPr>
          <p:cNvSpPr txBox="1"/>
          <p:nvPr/>
        </p:nvSpPr>
        <p:spPr>
          <a:xfrm>
            <a:off x="596399" y="5079125"/>
            <a:ext cx="8421134" cy="742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Unlike platforms that only provide information about carbon-credit programs, </a:t>
            </a:r>
            <a:r>
              <a:rPr lang="en-IN" b="1" dirty="0" err="1"/>
              <a:t>FarmerChoice</a:t>
            </a:r>
            <a:r>
              <a:rPr lang="en-IN" b="1" dirty="0"/>
              <a:t> converts complex participation requirements into a simple, farmer-friendly readiness assessment</a:t>
            </a:r>
            <a:r>
              <a:rPr lang="en-IN" dirty="0"/>
              <a:t> — showing farmers where they currently stand and what they need to improve or document.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6198B1B-2A7E-4FF8-2F72-798EBED46893}"/>
              </a:ext>
            </a:extLst>
          </p:cNvPr>
          <p:cNvSpPr txBox="1"/>
          <p:nvPr/>
        </p:nvSpPr>
        <p:spPr>
          <a:xfrm>
            <a:off x="596399" y="5811987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Data → Analysis → Readiness → Recommendation</a:t>
            </a:r>
            <a:endParaRPr lang="en-IN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C5AC2A48-BA06-C250-1481-3987FD0870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3618" y="1626188"/>
            <a:ext cx="2570177" cy="476688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dist="23000" dir="5400000" rotWithShape="0">
              <a:srgbClr val="80808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3"/>
          <p:cNvSpPr txBox="1">
            <a:spLocks noGrp="1"/>
          </p:cNvSpPr>
          <p:nvPr>
            <p:ph type="title"/>
          </p:nvPr>
        </p:nvSpPr>
        <p:spPr>
          <a:xfrm>
            <a:off x="0" y="-52257"/>
            <a:ext cx="10972800" cy="8073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latin typeface="Times New Roman"/>
                <a:ea typeface="Times New Roman"/>
                <a:cs typeface="Times New Roman"/>
                <a:sym typeface="Times New Roman"/>
              </a:rPr>
              <a:t>TECHNICAL APPROACH</a:t>
            </a:r>
            <a:endParaRPr dirty="0"/>
          </a:p>
        </p:txBody>
      </p:sp>
      <p:sp>
        <p:nvSpPr>
          <p:cNvPr id="114" name="Google Shape;114;p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lt1"/>
                </a:solidFill>
              </a:rPr>
              <a:t>3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115" name="Google Shape;115;p3"/>
          <p:cNvSpPr txBox="1">
            <a:spLocks noGrp="1"/>
          </p:cNvSpPr>
          <p:nvPr>
            <p:ph type="ftr" idx="11"/>
          </p:nvPr>
        </p:nvSpPr>
        <p:spPr>
          <a:xfrm>
            <a:off x="4648200" y="6356353"/>
            <a:ext cx="3204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@BITSHIFT  Idea submision- Template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16" name="Google Shape;116;p3" descr="Your startup LOGO"/>
          <p:cNvSpPr/>
          <p:nvPr/>
        </p:nvSpPr>
        <p:spPr>
          <a:xfrm>
            <a:off x="238333" y="50689"/>
            <a:ext cx="1251857" cy="730384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Omnira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7" name="Google Shape;117;p3"/>
          <p:cNvPicPr preferRelativeResize="0"/>
          <p:nvPr/>
        </p:nvPicPr>
        <p:blipFill rotWithShape="1">
          <a:blip r:embed="rId3">
            <a:alphaModFix/>
          </a:blip>
          <a:srcRect r="13096" b="-9830"/>
          <a:stretch/>
        </p:blipFill>
        <p:spPr>
          <a:xfrm>
            <a:off x="9438825" y="212100"/>
            <a:ext cx="2380700" cy="1687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B427DED-30FB-852B-2724-0A00E3AACB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0725" y="1095375"/>
            <a:ext cx="5378245" cy="5158635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39012908-58FD-E7CE-38DD-7D9904E8D2CF}"/>
              </a:ext>
            </a:extLst>
          </p:cNvPr>
          <p:cNvSpPr/>
          <p:nvPr/>
        </p:nvSpPr>
        <p:spPr>
          <a:xfrm>
            <a:off x="146893" y="853051"/>
            <a:ext cx="5949107" cy="536145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1D15D0D-99E0-070B-ECA1-A4F8CA8786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2394024"/>
              </p:ext>
            </p:extLst>
          </p:nvPr>
        </p:nvGraphicFramePr>
        <p:xfrm>
          <a:off x="146892" y="881554"/>
          <a:ext cx="5949107" cy="540123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1677584">
                  <a:extLst>
                    <a:ext uri="{9D8B030D-6E8A-4147-A177-3AD203B41FA5}">
                      <a16:colId xmlns:a16="http://schemas.microsoft.com/office/drawing/2014/main" val="926799602"/>
                    </a:ext>
                  </a:extLst>
                </a:gridCol>
                <a:gridCol w="4271523">
                  <a:extLst>
                    <a:ext uri="{9D8B030D-6E8A-4147-A177-3AD203B41FA5}">
                      <a16:colId xmlns:a16="http://schemas.microsoft.com/office/drawing/2014/main" val="3038265987"/>
                    </a:ext>
                  </a:extLst>
                </a:gridCol>
              </a:tblGrid>
              <a:tr h="2104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 i="1" u="sng" dirty="0"/>
                        <a:t>Technology</a:t>
                      </a:r>
                    </a:p>
                  </a:txBody>
                  <a:tcPr marL="71190" marR="71190" marT="35595" marB="355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 i="1" u="sng" dirty="0"/>
                        <a:t>Why we use it</a:t>
                      </a:r>
                    </a:p>
                  </a:txBody>
                  <a:tcPr marL="71190" marR="71190" marT="35595" marB="35595" anchor="ctr"/>
                </a:tc>
                <a:extLst>
                  <a:ext uri="{0D108BD9-81ED-4DB2-BD59-A6C34878D82A}">
                    <a16:rowId xmlns:a16="http://schemas.microsoft.com/office/drawing/2014/main" val="3033138311"/>
                  </a:ext>
                </a:extLst>
              </a:tr>
              <a:tr h="2104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/>
                        <a:t>HTML5 + CSS3</a:t>
                      </a:r>
                      <a:endParaRPr lang="en-IN" sz="1100"/>
                    </a:p>
                  </a:txBody>
                  <a:tcPr marL="71190" marR="71190" marT="35595" marB="355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/>
                        <a:t>Builds the lightweight, responsive </a:t>
                      </a:r>
                      <a:r>
                        <a:rPr lang="en-IN" sz="1100"/>
                        <a:t>FarmerChoice </a:t>
                      </a:r>
                      <a:r>
                        <a:rPr lang="en-IN" sz="1100" dirty="0"/>
                        <a:t>interface.</a:t>
                      </a:r>
                    </a:p>
                  </a:txBody>
                  <a:tcPr marL="71190" marR="71190" marT="35595" marB="35595" anchor="ctr"/>
                </a:tc>
                <a:extLst>
                  <a:ext uri="{0D108BD9-81ED-4DB2-BD59-A6C34878D82A}">
                    <a16:rowId xmlns:a16="http://schemas.microsoft.com/office/drawing/2014/main" val="3179439306"/>
                  </a:ext>
                </a:extLst>
              </a:tr>
              <a:tr h="3581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 dirty="0"/>
                        <a:t>JavaScript (ES Modules)</a:t>
                      </a:r>
                      <a:endParaRPr lang="en-IN" sz="1100" dirty="0"/>
                    </a:p>
                  </a:txBody>
                  <a:tcPr marL="71190" marR="71190" marT="35595" marB="355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/>
                        <a:t>Handles frontend interactions and API communication.</a:t>
                      </a:r>
                    </a:p>
                  </a:txBody>
                  <a:tcPr marL="71190" marR="71190" marT="35595" marB="35595" anchor="ctr"/>
                </a:tc>
                <a:extLst>
                  <a:ext uri="{0D108BD9-81ED-4DB2-BD59-A6C34878D82A}">
                    <a16:rowId xmlns:a16="http://schemas.microsoft.com/office/drawing/2014/main" val="3236866981"/>
                  </a:ext>
                </a:extLst>
              </a:tr>
              <a:tr h="2104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/>
                        <a:t>Vite</a:t>
                      </a:r>
                      <a:endParaRPr lang="en-IN" sz="1100"/>
                    </a:p>
                  </a:txBody>
                  <a:tcPr marL="71190" marR="71190" marT="35595" marB="355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Provides fast frontend development and production builds.</a:t>
                      </a:r>
                    </a:p>
                  </a:txBody>
                  <a:tcPr marL="71190" marR="71190" marT="35595" marB="35595" anchor="ctr"/>
                </a:tc>
                <a:extLst>
                  <a:ext uri="{0D108BD9-81ED-4DB2-BD59-A6C34878D82A}">
                    <a16:rowId xmlns:a16="http://schemas.microsoft.com/office/drawing/2014/main" val="1868409788"/>
                  </a:ext>
                </a:extLst>
              </a:tr>
              <a:tr h="2104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/>
                        <a:t>Node.js</a:t>
                      </a:r>
                      <a:endParaRPr lang="en-IN" sz="1100"/>
                    </a:p>
                  </a:txBody>
                  <a:tcPr marL="71190" marR="71190" marT="35595" marB="355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Runs our backend server efficiently.</a:t>
                      </a:r>
                    </a:p>
                  </a:txBody>
                  <a:tcPr marL="71190" marR="71190" marT="35595" marB="35595" anchor="ctr"/>
                </a:tc>
                <a:extLst>
                  <a:ext uri="{0D108BD9-81ED-4DB2-BD59-A6C34878D82A}">
                    <a16:rowId xmlns:a16="http://schemas.microsoft.com/office/drawing/2014/main" val="1008031479"/>
                  </a:ext>
                </a:extLst>
              </a:tr>
              <a:tr h="2104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/>
                        <a:t>Express.js</a:t>
                      </a:r>
                      <a:endParaRPr lang="en-IN" sz="1100"/>
                    </a:p>
                  </a:txBody>
                  <a:tcPr marL="71190" marR="71190" marT="35595" marB="355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Provides the REST API layer between frontend and backend.</a:t>
                      </a:r>
                    </a:p>
                  </a:txBody>
                  <a:tcPr marL="71190" marR="71190" marT="35595" marB="35595" anchor="ctr"/>
                </a:tc>
                <a:extLst>
                  <a:ext uri="{0D108BD9-81ED-4DB2-BD59-A6C34878D82A}">
                    <a16:rowId xmlns:a16="http://schemas.microsoft.com/office/drawing/2014/main" val="3121073722"/>
                  </a:ext>
                </a:extLst>
              </a:tr>
              <a:tr h="3581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/>
                        <a:t>TypeScript</a:t>
                      </a:r>
                      <a:endParaRPr lang="en-IN" sz="1100"/>
                    </a:p>
                  </a:txBody>
                  <a:tcPr marL="71190" marR="71190" marT="35595" marB="355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/>
                        <a:t>Adds type safety and makes the backend easier to maintain reliably.</a:t>
                      </a:r>
                    </a:p>
                  </a:txBody>
                  <a:tcPr marL="71190" marR="71190" marT="35595" marB="35595" anchor="ctr"/>
                </a:tc>
                <a:extLst>
                  <a:ext uri="{0D108BD9-81ED-4DB2-BD59-A6C34878D82A}">
                    <a16:rowId xmlns:a16="http://schemas.microsoft.com/office/drawing/2014/main" val="2578049785"/>
                  </a:ext>
                </a:extLst>
              </a:tr>
              <a:tr h="3581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 dirty="0"/>
                        <a:t>PostgreSQL</a:t>
                      </a:r>
                      <a:endParaRPr lang="en-IN" sz="1100" dirty="0"/>
                    </a:p>
                  </a:txBody>
                  <a:tcPr marL="71190" marR="71190" marT="35595" marB="355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Stores real farmer, farm, crop, document and assessment data persistently.</a:t>
                      </a:r>
                    </a:p>
                  </a:txBody>
                  <a:tcPr marL="71190" marR="71190" marT="35595" marB="35595" anchor="ctr"/>
                </a:tc>
                <a:extLst>
                  <a:ext uri="{0D108BD9-81ED-4DB2-BD59-A6C34878D82A}">
                    <a16:rowId xmlns:a16="http://schemas.microsoft.com/office/drawing/2014/main" val="2494756530"/>
                  </a:ext>
                </a:extLst>
              </a:tr>
              <a:tr h="3581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/>
                        <a:t>Prisma ORM</a:t>
                      </a:r>
                      <a:endParaRPr lang="en-IN" sz="1100"/>
                    </a:p>
                  </a:txBody>
                  <a:tcPr marL="71190" marR="71190" marT="35595" marB="355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/>
                        <a:t>Safely connects the TypeScript backend with PostgreSQL and manages database schema/migrations.</a:t>
                      </a:r>
                    </a:p>
                  </a:txBody>
                  <a:tcPr marL="71190" marR="71190" marT="35595" marB="35595" anchor="ctr"/>
                </a:tc>
                <a:extLst>
                  <a:ext uri="{0D108BD9-81ED-4DB2-BD59-A6C34878D82A}">
                    <a16:rowId xmlns:a16="http://schemas.microsoft.com/office/drawing/2014/main" val="2610256677"/>
                  </a:ext>
                </a:extLst>
              </a:tr>
              <a:tr h="2104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/>
                        <a:t>JWT</a:t>
                      </a:r>
                      <a:endParaRPr lang="en-IN" sz="1100"/>
                    </a:p>
                  </a:txBody>
                  <a:tcPr marL="71190" marR="71190" marT="35595" marB="355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Handles secure user authentication and sessions.</a:t>
                      </a:r>
                    </a:p>
                  </a:txBody>
                  <a:tcPr marL="71190" marR="71190" marT="35595" marB="35595" anchor="ctr"/>
                </a:tc>
                <a:extLst>
                  <a:ext uri="{0D108BD9-81ED-4DB2-BD59-A6C34878D82A}">
                    <a16:rowId xmlns:a16="http://schemas.microsoft.com/office/drawing/2014/main" val="3376613266"/>
                  </a:ext>
                </a:extLst>
              </a:tr>
              <a:tr h="3581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/>
                        <a:t>bcrypt</a:t>
                      </a:r>
                      <a:endParaRPr lang="en-IN" sz="1100"/>
                    </a:p>
                  </a:txBody>
                  <a:tcPr marL="71190" marR="71190" marT="35595" marB="355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Securely hashes farmer passwords instead of storing them directly.</a:t>
                      </a:r>
                    </a:p>
                  </a:txBody>
                  <a:tcPr marL="71190" marR="71190" marT="35595" marB="35595" anchor="ctr"/>
                </a:tc>
                <a:extLst>
                  <a:ext uri="{0D108BD9-81ED-4DB2-BD59-A6C34878D82A}">
                    <a16:rowId xmlns:a16="http://schemas.microsoft.com/office/drawing/2014/main" val="1790842185"/>
                  </a:ext>
                </a:extLst>
              </a:tr>
              <a:tr h="2104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/>
                        <a:t>Zod</a:t>
                      </a:r>
                      <a:endParaRPr lang="en-IN" sz="1100"/>
                    </a:p>
                  </a:txBody>
                  <a:tcPr marL="71190" marR="71190" marT="35595" marB="355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Validates incoming API data before processing it.</a:t>
                      </a:r>
                    </a:p>
                  </a:txBody>
                  <a:tcPr marL="71190" marR="71190" marT="35595" marB="35595" anchor="ctr"/>
                </a:tc>
                <a:extLst>
                  <a:ext uri="{0D108BD9-81ED-4DB2-BD59-A6C34878D82A}">
                    <a16:rowId xmlns:a16="http://schemas.microsoft.com/office/drawing/2014/main" val="3122997519"/>
                  </a:ext>
                </a:extLst>
              </a:tr>
              <a:tr h="3581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/>
                        <a:t>Helmet + Rate Limiting + CORS</a:t>
                      </a:r>
                      <a:endParaRPr lang="en-IN" sz="1100"/>
                    </a:p>
                  </a:txBody>
                  <a:tcPr marL="71190" marR="71190" marT="35595" marB="355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Adds basic API security and protects against unwanted requests/origins.</a:t>
                      </a:r>
                    </a:p>
                  </a:txBody>
                  <a:tcPr marL="71190" marR="71190" marT="35595" marB="35595" anchor="ctr"/>
                </a:tc>
                <a:extLst>
                  <a:ext uri="{0D108BD9-81ED-4DB2-BD59-A6C34878D82A}">
                    <a16:rowId xmlns:a16="http://schemas.microsoft.com/office/drawing/2014/main" val="4180008178"/>
                  </a:ext>
                </a:extLst>
              </a:tr>
              <a:tr h="3581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/>
                        <a:t>Cloudinary</a:t>
                      </a:r>
                      <a:endParaRPr lang="en-IN" sz="1100"/>
                    </a:p>
                  </a:txBody>
                  <a:tcPr marL="71190" marR="71190" marT="35595" marB="355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Provides persistent cloud storage for uploaded farm documents in production.</a:t>
                      </a:r>
                    </a:p>
                  </a:txBody>
                  <a:tcPr marL="71190" marR="71190" marT="35595" marB="35595" anchor="ctr"/>
                </a:tc>
                <a:extLst>
                  <a:ext uri="{0D108BD9-81ED-4DB2-BD59-A6C34878D82A}">
                    <a16:rowId xmlns:a16="http://schemas.microsoft.com/office/drawing/2014/main" val="3361707011"/>
                  </a:ext>
                </a:extLst>
              </a:tr>
              <a:tr h="3581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/>
                        <a:t>Vitest</a:t>
                      </a:r>
                      <a:endParaRPr lang="en-IN" sz="1100"/>
                    </a:p>
                  </a:txBody>
                  <a:tcPr marL="71190" marR="71190" marT="35595" marB="355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Tests the scoring engine, APIs, validation, security and complete workflows.</a:t>
                      </a:r>
                    </a:p>
                  </a:txBody>
                  <a:tcPr marL="71190" marR="71190" marT="35595" marB="35595" anchor="ctr"/>
                </a:tc>
                <a:extLst>
                  <a:ext uri="{0D108BD9-81ED-4DB2-BD59-A6C34878D82A}">
                    <a16:rowId xmlns:a16="http://schemas.microsoft.com/office/drawing/2014/main" val="998490907"/>
                  </a:ext>
                </a:extLst>
              </a:tr>
              <a:tr h="2104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/>
                        <a:t>Render</a:t>
                      </a:r>
                      <a:endParaRPr lang="en-IN" sz="1100"/>
                    </a:p>
                  </a:txBody>
                  <a:tcPr marL="71190" marR="71190" marT="35595" marB="355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Hosts the frontend and backend for public access.</a:t>
                      </a:r>
                    </a:p>
                  </a:txBody>
                  <a:tcPr marL="71190" marR="71190" marT="35595" marB="35595" anchor="ctr"/>
                </a:tc>
                <a:extLst>
                  <a:ext uri="{0D108BD9-81ED-4DB2-BD59-A6C34878D82A}">
                    <a16:rowId xmlns:a16="http://schemas.microsoft.com/office/drawing/2014/main" val="4079210430"/>
                  </a:ext>
                </a:extLst>
              </a:tr>
              <a:tr h="2104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/>
                        <a:t>Supabase</a:t>
                      </a:r>
                      <a:endParaRPr lang="en-IN" sz="1100"/>
                    </a:p>
                  </a:txBody>
                  <a:tcPr marL="71190" marR="71190" marT="35595" marB="355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/>
                        <a:t>Provides the managed PostgreSQL database.</a:t>
                      </a:r>
                    </a:p>
                  </a:txBody>
                  <a:tcPr marL="71190" marR="71190" marT="35595" marB="35595" anchor="ctr"/>
                </a:tc>
                <a:extLst>
                  <a:ext uri="{0D108BD9-81ED-4DB2-BD59-A6C34878D82A}">
                    <a16:rowId xmlns:a16="http://schemas.microsoft.com/office/drawing/2014/main" val="54085235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"/>
          <p:cNvSpPr/>
          <p:nvPr/>
        </p:nvSpPr>
        <p:spPr>
          <a:xfrm>
            <a:off x="0" y="6357453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dist="23000" dir="5400000" rotWithShape="0">
              <a:srgbClr val="80808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4"/>
          <p:cNvSpPr txBox="1">
            <a:spLocks noGrp="1"/>
          </p:cNvSpPr>
          <p:nvPr>
            <p:ph type="title"/>
          </p:nvPr>
        </p:nvSpPr>
        <p:spPr>
          <a:xfrm>
            <a:off x="609601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latin typeface="Times New Roman"/>
                <a:ea typeface="Times New Roman"/>
                <a:cs typeface="Times New Roman"/>
                <a:sym typeface="Times New Roman"/>
              </a:rPr>
              <a:t>FEASIBILITY AND VIABILITY</a:t>
            </a:r>
            <a:endParaRPr dirty="0"/>
          </a:p>
        </p:txBody>
      </p:sp>
      <p:sp>
        <p:nvSpPr>
          <p:cNvPr id="126" name="Google Shape;126;p4"/>
          <p:cNvSpPr txBox="1">
            <a:spLocks noGrp="1"/>
          </p:cNvSpPr>
          <p:nvPr>
            <p:ph type="sldNum" idx="12"/>
          </p:nvPr>
        </p:nvSpPr>
        <p:spPr>
          <a:xfrm>
            <a:off x="8737601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lang="en-US" sz="1200" b="1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4</a:t>
            </a:fld>
            <a:endParaRPr sz="1200" b="1" i="0" u="none" strike="noStrike" cap="non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27" name="Google Shape;127;p4"/>
          <p:cNvSpPr txBox="1">
            <a:spLocks noGrp="1"/>
          </p:cNvSpPr>
          <p:nvPr>
            <p:ph type="ftr" idx="11"/>
          </p:nvPr>
        </p:nvSpPr>
        <p:spPr>
          <a:xfrm>
            <a:off x="4648201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@</a:t>
            </a:r>
            <a:r>
              <a:rPr lang="en-US">
                <a:solidFill>
                  <a:schemeClr val="lt1"/>
                </a:solidFill>
              </a:rPr>
              <a:t>BITSHIFT</a:t>
            </a:r>
            <a:r>
              <a:rPr lang="en-US" sz="1200" b="0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 Idea submission- Template</a:t>
            </a:r>
            <a:endParaRPr sz="1200" b="0" i="0" u="none" strike="noStrike" cap="non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28" name="Google Shape;128;p4" descr="Your startup LOGO"/>
          <p:cNvSpPr/>
          <p:nvPr/>
        </p:nvSpPr>
        <p:spPr>
          <a:xfrm>
            <a:off x="521466" y="161693"/>
            <a:ext cx="1251857" cy="807334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u="sng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Omnira</a:t>
            </a: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800" u="sng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9" name="Google Shape;129;p4"/>
          <p:cNvPicPr preferRelativeResize="0"/>
          <p:nvPr/>
        </p:nvPicPr>
        <p:blipFill rotWithShape="1">
          <a:blip r:embed="rId3">
            <a:alphaModFix/>
          </a:blip>
          <a:srcRect r="13096" b="-9830"/>
          <a:stretch/>
        </p:blipFill>
        <p:spPr>
          <a:xfrm>
            <a:off x="9854313" y="-6994"/>
            <a:ext cx="2380700" cy="16875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D1676485-738E-C111-6479-2DAD2262FE3F}"/>
              </a:ext>
            </a:extLst>
          </p:cNvPr>
          <p:cNvGrpSpPr/>
          <p:nvPr/>
        </p:nvGrpSpPr>
        <p:grpSpPr>
          <a:xfrm>
            <a:off x="469474" y="1136006"/>
            <a:ext cx="11069881" cy="3571137"/>
            <a:chOff x="521465" y="1094023"/>
            <a:chExt cx="11079134" cy="4787698"/>
          </a:xfrm>
        </p:grpSpPr>
        <p:sp>
          <p:nvSpPr>
            <p:cNvPr id="3" name="Rectangle: Single Corner Rounded 2">
              <a:extLst>
                <a:ext uri="{FF2B5EF4-FFF2-40B4-BE49-F238E27FC236}">
                  <a16:creationId xmlns:a16="http://schemas.microsoft.com/office/drawing/2014/main" id="{DD3B63D2-D3F8-F610-CE95-FC0E3AF9AA0D}"/>
                </a:ext>
              </a:extLst>
            </p:cNvPr>
            <p:cNvSpPr/>
            <p:nvPr/>
          </p:nvSpPr>
          <p:spPr>
            <a:xfrm>
              <a:off x="4223096" y="1704615"/>
              <a:ext cx="3770635" cy="3899892"/>
            </a:xfrm>
            <a:prstGeom prst="round1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" name="Rectangle: Single Corner Rounded 3">
              <a:extLst>
                <a:ext uri="{FF2B5EF4-FFF2-40B4-BE49-F238E27FC236}">
                  <a16:creationId xmlns:a16="http://schemas.microsoft.com/office/drawing/2014/main" id="{8E5BC5BE-7991-1501-BA5C-EAB33B66B4A5}"/>
                </a:ext>
              </a:extLst>
            </p:cNvPr>
            <p:cNvSpPr/>
            <p:nvPr/>
          </p:nvSpPr>
          <p:spPr>
            <a:xfrm>
              <a:off x="521465" y="1094023"/>
              <a:ext cx="3505913" cy="4556734"/>
            </a:xfrm>
            <a:prstGeom prst="round1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FD90129E-FD1F-4521-4299-EEF8666412DE}"/>
                </a:ext>
              </a:extLst>
            </p:cNvPr>
            <p:cNvSpPr txBox="1"/>
            <p:nvPr/>
          </p:nvSpPr>
          <p:spPr>
            <a:xfrm>
              <a:off x="563102" y="1178925"/>
              <a:ext cx="3505913" cy="47027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100" b="1" dirty="0"/>
                <a:t>1. Feasibility of the Idea</a:t>
              </a:r>
            </a:p>
            <a:p>
              <a:r>
                <a:rPr lang="en-IN" sz="1100" dirty="0"/>
                <a:t>• </a:t>
              </a:r>
              <a:r>
                <a:rPr lang="en-IN" sz="1100" b="1" dirty="0"/>
                <a:t>Existing farm data can support the assessment:</a:t>
              </a:r>
              <a:br>
                <a:rPr lang="en-IN" sz="1100" dirty="0"/>
              </a:br>
              <a:r>
                <a:rPr lang="en-IN" sz="1100" dirty="0"/>
                <a:t>Land details, crop history, farming practices, input usage, irrigation, soil management and available records can be collected through simple forms.</a:t>
              </a:r>
            </a:p>
            <a:p>
              <a:r>
                <a:rPr lang="en-IN" sz="1100" dirty="0"/>
                <a:t>• </a:t>
              </a:r>
              <a:r>
                <a:rPr lang="en-IN" sz="1100" b="1" dirty="0"/>
                <a:t>Readiness scoring is practical:</a:t>
              </a:r>
              <a:br>
                <a:rPr lang="en-IN" sz="1100" dirty="0"/>
              </a:br>
              <a:r>
                <a:rPr lang="en-IN" sz="1100" dirty="0"/>
                <a:t>A rule-based scoring system can evaluate farmer inputs across key readiness categories without requiring complex infrastructure.</a:t>
              </a:r>
            </a:p>
            <a:p>
              <a:r>
                <a:rPr lang="en-IN" sz="1100" dirty="0"/>
                <a:t>• </a:t>
              </a:r>
              <a:r>
                <a:rPr lang="en-IN" sz="1100" b="1" dirty="0"/>
                <a:t>Documentation assessment is achievable:</a:t>
              </a:r>
              <a:br>
                <a:rPr lang="en-IN" sz="1100" dirty="0"/>
              </a:br>
              <a:r>
                <a:rPr lang="en-IN" sz="1100" dirty="0"/>
                <a:t>Available land, crop, input and soil records can be checked to identify documentation gaps.</a:t>
              </a:r>
            </a:p>
            <a:p>
              <a:r>
                <a:rPr lang="en-IN" sz="1100" dirty="0"/>
                <a:t>• </a:t>
              </a:r>
              <a:r>
                <a:rPr lang="en-IN" sz="1100" b="1" dirty="0"/>
                <a:t>Recommendations are actionable:</a:t>
              </a:r>
              <a:br>
                <a:rPr lang="en-IN" sz="1100" dirty="0"/>
              </a:br>
              <a:r>
                <a:rPr lang="en-IN" sz="1100" dirty="0"/>
                <a:t>The system can convert assessment results into clear improvement steps for farmers.</a:t>
              </a:r>
            </a:p>
            <a:p>
              <a:r>
                <a:rPr lang="en-IN" sz="1100" dirty="0"/>
                <a:t>• </a:t>
              </a:r>
              <a:r>
                <a:rPr lang="en-IN" sz="1100" b="1" dirty="0"/>
                <a:t>Modular &amp; scalable:</a:t>
              </a:r>
              <a:br>
                <a:rPr lang="en-IN" sz="1100" dirty="0"/>
              </a:br>
              <a:r>
                <a:rPr lang="en-IN" sz="1100" dirty="0"/>
                <a:t>The platform can initially cover core readiness indicators and later expand to more carbon-credit programs, regions and data sources.</a:t>
              </a:r>
            </a:p>
            <a:p>
              <a:endParaRPr lang="en-IN" sz="1100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B3251156-7422-0363-EE98-FBEEC43187BD}"/>
                </a:ext>
              </a:extLst>
            </p:cNvPr>
            <p:cNvSpPr txBox="1"/>
            <p:nvPr/>
          </p:nvSpPr>
          <p:spPr>
            <a:xfrm>
              <a:off x="4370280" y="1906065"/>
              <a:ext cx="3476265" cy="34256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200" b="1" dirty="0"/>
                <a:t>2. Potential Challenges &amp; Risks</a:t>
              </a:r>
            </a:p>
            <a:p>
              <a:r>
                <a:rPr lang="en-IN" sz="1200" dirty="0"/>
                <a:t>• </a:t>
              </a:r>
              <a:r>
                <a:rPr lang="en-IN" sz="1200" b="1" dirty="0"/>
                <a:t>Data availability &amp; quality:</a:t>
              </a:r>
              <a:r>
                <a:rPr lang="en-IN" sz="1200" dirty="0"/>
                <a:t> Farmer-provided information may be incomplete, inconsistent or difficult to verify.</a:t>
              </a:r>
            </a:p>
            <a:p>
              <a:r>
                <a:rPr lang="en-IN" sz="1200" dirty="0"/>
                <a:t>• </a:t>
              </a:r>
              <a:r>
                <a:rPr lang="en-IN" sz="1200" b="1" dirty="0"/>
                <a:t>Carbon program variability:</a:t>
              </a:r>
              <a:r>
                <a:rPr lang="en-IN" sz="1200" dirty="0"/>
                <a:t> Eligibility requirements and documentation standards can differ across carbon-credit programs.</a:t>
              </a:r>
            </a:p>
            <a:p>
              <a:r>
                <a:rPr lang="en-IN" sz="1200" dirty="0"/>
                <a:t>• </a:t>
              </a:r>
              <a:r>
                <a:rPr lang="en-IN" sz="1200" b="1" dirty="0"/>
                <a:t>Limited awareness:</a:t>
              </a:r>
              <a:r>
                <a:rPr lang="en-IN" sz="1200" dirty="0"/>
                <a:t> Farmers may not understand technical terms or the purpose of different questions.</a:t>
              </a:r>
            </a:p>
            <a:p>
              <a:r>
                <a:rPr lang="en-IN" sz="1200" dirty="0"/>
                <a:t>• </a:t>
              </a:r>
              <a:r>
                <a:rPr lang="en-IN" sz="1200" b="1" dirty="0"/>
                <a:t>Verification dependency:</a:t>
              </a:r>
              <a:r>
                <a:rPr lang="en-IN" sz="1200" dirty="0"/>
                <a:t> Readiness assessment cannot replace the formal measurement, reporting and verification required by actual carbon-credit programs.</a:t>
              </a:r>
            </a:p>
            <a:p>
              <a:endParaRPr lang="en-IN" sz="1200" dirty="0"/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05C52624-E8EE-FBDF-FDAB-0ACE3C042841}"/>
                </a:ext>
              </a:extLst>
            </p:cNvPr>
            <p:cNvGrpSpPr/>
            <p:nvPr/>
          </p:nvGrpSpPr>
          <p:grpSpPr>
            <a:xfrm>
              <a:off x="8144424" y="1672848"/>
              <a:ext cx="3456175" cy="4110242"/>
              <a:chOff x="7887372" y="1672848"/>
              <a:chExt cx="3456175" cy="4110242"/>
            </a:xfrm>
          </p:grpSpPr>
          <p:sp>
            <p:nvSpPr>
              <p:cNvPr id="8" name="Rectangle: Single Corner Rounded 7">
                <a:extLst>
                  <a:ext uri="{FF2B5EF4-FFF2-40B4-BE49-F238E27FC236}">
                    <a16:creationId xmlns:a16="http://schemas.microsoft.com/office/drawing/2014/main" id="{EA900A1D-02BF-2FB9-4357-3BA60CBFC240}"/>
                  </a:ext>
                </a:extLst>
              </p:cNvPr>
              <p:cNvSpPr/>
              <p:nvPr/>
            </p:nvSpPr>
            <p:spPr>
              <a:xfrm>
                <a:off x="7887372" y="1672848"/>
                <a:ext cx="3456175" cy="3899893"/>
              </a:xfrm>
              <a:prstGeom prst="round1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9C511F7-E572-E21E-5EB7-D089B91A056B}"/>
                  </a:ext>
                </a:extLst>
              </p:cNvPr>
              <p:cNvSpPr txBox="1"/>
              <p:nvPr/>
            </p:nvSpPr>
            <p:spPr>
              <a:xfrm>
                <a:off x="7890759" y="1812773"/>
                <a:ext cx="3366143" cy="39703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200" b="1" dirty="0"/>
                  <a:t>3. Strategies to Overcome Challenges</a:t>
                </a:r>
              </a:p>
              <a:p>
                <a:r>
                  <a:rPr lang="en-IN" sz="1200" dirty="0"/>
                  <a:t>• </a:t>
                </a:r>
                <a:r>
                  <a:rPr lang="en-IN" sz="1200" b="1" dirty="0"/>
                  <a:t>Data availability &amp; quality →</a:t>
                </a:r>
                <a:r>
                  <a:rPr lang="en-IN" sz="1200" dirty="0"/>
                  <a:t> Use simple guided forms, validation and clear examples; allow incomplete information to be flagged.</a:t>
                </a:r>
              </a:p>
              <a:p>
                <a:r>
                  <a:rPr lang="en-IN" sz="1200" dirty="0"/>
                  <a:t>• </a:t>
                </a:r>
                <a:r>
                  <a:rPr lang="en-IN" sz="1200" b="1" dirty="0"/>
                  <a:t>Carbon program variability →</a:t>
                </a:r>
                <a:r>
                  <a:rPr lang="en-IN" sz="1200" dirty="0"/>
                  <a:t> Keep assessment criteria modular and configurable for different program requirements.</a:t>
                </a:r>
              </a:p>
              <a:p>
                <a:r>
                  <a:rPr lang="en-IN" sz="1200" dirty="0"/>
                  <a:t>• </a:t>
                </a:r>
                <a:r>
                  <a:rPr lang="en-IN" sz="1200" b="1" dirty="0"/>
                  <a:t>Limited awareness →</a:t>
                </a:r>
                <a:r>
                  <a:rPr lang="en-IN" sz="1200" dirty="0"/>
                  <a:t> Use simple, farmer-friendly explanations, tooltips and easy-to-understand questions.</a:t>
                </a:r>
              </a:p>
              <a:p>
                <a:r>
                  <a:rPr lang="en-IN" sz="1200" dirty="0"/>
                  <a:t>• </a:t>
                </a:r>
                <a:r>
                  <a:rPr lang="en-IN" sz="1200" b="1" dirty="0"/>
                  <a:t>Verification dependency →</a:t>
                </a:r>
                <a:r>
                  <a:rPr lang="en-IN" sz="1200" dirty="0"/>
                  <a:t> Clearly position the platform as a </a:t>
                </a:r>
                <a:r>
                  <a:rPr lang="en-IN" sz="1200" b="1" dirty="0"/>
                  <a:t>pre-assessment/readiness tool</a:t>
                </a:r>
                <a:r>
                  <a:rPr lang="en-IN" sz="1200" dirty="0"/>
                  <a:t> and guide farmers toward required evidence and records.</a:t>
                </a:r>
              </a:p>
              <a:p>
                <a:endParaRPr lang="en-IN" sz="1200" dirty="0"/>
              </a:p>
            </p:txBody>
          </p:sp>
        </p:grp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2F6D68F9-D04B-0521-011A-D6386E671F35}"/>
              </a:ext>
            </a:extLst>
          </p:cNvPr>
          <p:cNvSpPr txBox="1"/>
          <p:nvPr/>
        </p:nvSpPr>
        <p:spPr>
          <a:xfrm>
            <a:off x="521466" y="4786106"/>
            <a:ext cx="11061289" cy="70788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2000" dirty="0"/>
              <a:t>“The platform is designed as a readiness-support system — helping farmers understand where they stand today and what they need to improve before approaching a carbon-credit program.”</a:t>
            </a:r>
            <a:endParaRPr lang="en-IN" sz="2000" dirty="0">
              <a:solidFill>
                <a:schemeClr val="tx2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ECAC2A7-859F-2DEC-17FE-0BA663367730}"/>
              </a:ext>
            </a:extLst>
          </p:cNvPr>
          <p:cNvSpPr txBox="1"/>
          <p:nvPr/>
        </p:nvSpPr>
        <p:spPr>
          <a:xfrm>
            <a:off x="530710" y="5507533"/>
            <a:ext cx="110420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IN" b="1" dirty="0">
                <a:solidFill>
                  <a:srgbClr val="002060"/>
                </a:solidFill>
              </a:rPr>
              <a:t>This entire project is focused on solving 3 aspects of the </a:t>
            </a:r>
            <a:r>
              <a:rPr lang="en-IN" sz="1800" b="1" dirty="0">
                <a:solidFill>
                  <a:srgbClr val="002060"/>
                </a:solidFill>
              </a:rPr>
              <a:t>problem</a:t>
            </a:r>
            <a:r>
              <a:rPr lang="en-IN" b="1" dirty="0">
                <a:solidFill>
                  <a:srgbClr val="002060"/>
                </a:solidFill>
              </a:rPr>
              <a:t> faced by farmers:</a:t>
            </a:r>
            <a:endParaRPr lang="en-IN" dirty="0">
              <a:solidFill>
                <a:srgbClr val="002060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EEC817A-B6C0-8699-41C8-4006FD0BFDFB}"/>
              </a:ext>
            </a:extLst>
          </p:cNvPr>
          <p:cNvSpPr txBox="1"/>
          <p:nvPr/>
        </p:nvSpPr>
        <p:spPr>
          <a:xfrm>
            <a:off x="4064001" y="591455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dirty="0">
                <a:solidFill>
                  <a:srgbClr val="002060"/>
                </a:solidFill>
              </a:rPr>
              <a:t>Readiness → Gaps → Action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dist="23000" dir="5400000" rotWithShape="0">
              <a:srgbClr val="80808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5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latin typeface="Times New Roman"/>
                <a:ea typeface="Times New Roman"/>
                <a:cs typeface="Times New Roman"/>
                <a:sym typeface="Times New Roman"/>
              </a:rPr>
              <a:t>IMPACT AND BENEFITS</a:t>
            </a:r>
            <a:endParaRPr/>
          </a:p>
        </p:txBody>
      </p:sp>
      <p:sp>
        <p:nvSpPr>
          <p:cNvPr id="138" name="Google Shape;138;p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lang="en-US" sz="1200" b="1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5</a:t>
            </a:fld>
            <a:endParaRPr sz="1200" b="1" i="0" u="none" strike="noStrike" cap="non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39" name="Google Shape;139;p5"/>
          <p:cNvSpPr txBox="1">
            <a:spLocks noGrp="1"/>
          </p:cNvSpPr>
          <p:nvPr>
            <p:ph type="ftr" idx="11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@</a:t>
            </a:r>
            <a:r>
              <a:rPr lang="en-US">
                <a:solidFill>
                  <a:schemeClr val="lt1"/>
                </a:solidFill>
              </a:rPr>
              <a:t>BITSHIFT</a:t>
            </a:r>
            <a:r>
              <a:rPr lang="en-US" sz="1200" b="0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 Idea submission- Template</a:t>
            </a:r>
            <a:endParaRPr sz="1200" b="0" i="0" u="none" strike="noStrike" cap="non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40" name="Google Shape;140;p5" descr="Your startup LOGO"/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u="sng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Omnira</a:t>
            </a:r>
            <a:endParaRPr sz="1800" u="sng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1" name="Google Shape;141;p5"/>
          <p:cNvPicPr preferRelativeResize="0"/>
          <p:nvPr/>
        </p:nvPicPr>
        <p:blipFill rotWithShape="1">
          <a:blip r:embed="rId3">
            <a:alphaModFix/>
          </a:blip>
          <a:srcRect r="13096" b="-9830"/>
          <a:stretch/>
        </p:blipFill>
        <p:spPr>
          <a:xfrm>
            <a:off x="9438825" y="212100"/>
            <a:ext cx="2380700" cy="16875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3F2150AB-7D83-4FC6-F0CD-3F67665DD105}"/>
              </a:ext>
            </a:extLst>
          </p:cNvPr>
          <p:cNvGrpSpPr/>
          <p:nvPr/>
        </p:nvGrpSpPr>
        <p:grpSpPr>
          <a:xfrm>
            <a:off x="213593" y="1384054"/>
            <a:ext cx="5582591" cy="4453970"/>
            <a:chOff x="169676" y="1151608"/>
            <a:chExt cx="5582591" cy="445397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BF8C215-C013-1757-D958-EE2ED6A34102}"/>
                </a:ext>
              </a:extLst>
            </p:cNvPr>
            <p:cNvSpPr/>
            <p:nvPr/>
          </p:nvSpPr>
          <p:spPr>
            <a:xfrm>
              <a:off x="213593" y="1194689"/>
              <a:ext cx="5538674" cy="4410889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46F9A58B-33F2-B85C-1CE4-363A995277B5}"/>
                </a:ext>
              </a:extLst>
            </p:cNvPr>
            <p:cNvSpPr txBox="1"/>
            <p:nvPr/>
          </p:nvSpPr>
          <p:spPr>
            <a:xfrm>
              <a:off x="169676" y="1151608"/>
              <a:ext cx="553867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IN" sz="1400" dirty="0"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DA079AE8-6D36-EC9B-A0F5-64B1E8E63B08}"/>
              </a:ext>
            </a:extLst>
          </p:cNvPr>
          <p:cNvSpPr txBox="1"/>
          <p:nvPr/>
        </p:nvSpPr>
        <p:spPr>
          <a:xfrm>
            <a:off x="213593" y="1405176"/>
            <a:ext cx="5773420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☐ </a:t>
            </a:r>
            <a:r>
              <a:rPr lang="en-IN" b="1" dirty="0"/>
              <a:t>Better Carbon-Credit Readiness Awareness:</a:t>
            </a:r>
            <a:br>
              <a:rPr lang="en-IN" dirty="0"/>
            </a:br>
            <a:r>
              <a:rPr lang="en-IN" dirty="0"/>
              <a:t>➢ </a:t>
            </a:r>
            <a:r>
              <a:rPr lang="en-IN" b="1" dirty="0"/>
              <a:t>Impact:</a:t>
            </a:r>
            <a:r>
              <a:rPr lang="en-IN" dirty="0"/>
              <a:t> Shows farmers how prepared they are based on their farming practices, records and available information.</a:t>
            </a:r>
            <a:br>
              <a:rPr lang="en-IN" dirty="0"/>
            </a:br>
            <a:r>
              <a:rPr lang="en-IN" dirty="0"/>
              <a:t>➢ </a:t>
            </a:r>
            <a:r>
              <a:rPr lang="en-IN" b="1" dirty="0"/>
              <a:t>Benefit:</a:t>
            </a:r>
            <a:r>
              <a:rPr lang="en-IN" dirty="0"/>
              <a:t> Helps farmers understand their current position before approaching a carbon-credit program.</a:t>
            </a:r>
          </a:p>
          <a:p>
            <a:pPr>
              <a:buNone/>
            </a:pPr>
            <a:r>
              <a:rPr lang="en-IN" dirty="0"/>
              <a:t>☐ </a:t>
            </a:r>
            <a:r>
              <a:rPr lang="en-IN" b="1" dirty="0"/>
              <a:t>Improved Documentation &amp; Record Keeping:</a:t>
            </a:r>
            <a:br>
              <a:rPr lang="en-IN" dirty="0"/>
            </a:br>
            <a:r>
              <a:rPr lang="en-IN" dirty="0"/>
              <a:t>➢ </a:t>
            </a:r>
            <a:r>
              <a:rPr lang="en-IN" b="1" dirty="0"/>
              <a:t>Impact:</a:t>
            </a:r>
            <a:r>
              <a:rPr lang="en-IN" dirty="0"/>
              <a:t> Identifies missing land, crop, input and soil-related records required for assessment.</a:t>
            </a:r>
            <a:br>
              <a:rPr lang="en-IN" dirty="0"/>
            </a:br>
            <a:r>
              <a:rPr lang="en-IN" dirty="0"/>
              <a:t>➢ </a:t>
            </a:r>
            <a:r>
              <a:rPr lang="en-IN" b="1" dirty="0"/>
              <a:t>Benefit:</a:t>
            </a:r>
            <a:r>
              <a:rPr lang="en-IN" dirty="0"/>
              <a:t> Helps farmers maintain better evidence and become more prepared for program participation.</a:t>
            </a:r>
          </a:p>
          <a:p>
            <a:pPr>
              <a:buNone/>
            </a:pPr>
            <a:r>
              <a:rPr lang="en-IN" dirty="0"/>
              <a:t>☐ </a:t>
            </a:r>
            <a:r>
              <a:rPr lang="en-IN" b="1" dirty="0"/>
              <a:t>Actionable Sustainable Practices:</a:t>
            </a:r>
            <a:br>
              <a:rPr lang="en-IN" dirty="0"/>
            </a:br>
            <a:r>
              <a:rPr lang="en-IN" dirty="0"/>
              <a:t>➢ </a:t>
            </a:r>
            <a:r>
              <a:rPr lang="en-IN" b="1" dirty="0"/>
              <a:t>Impact:</a:t>
            </a:r>
            <a:r>
              <a:rPr lang="en-IN" dirty="0"/>
              <a:t> Highlights areas such as soil management, irrigation, crop rotation and input usage that may need improvement.</a:t>
            </a:r>
            <a:br>
              <a:rPr lang="en-IN" dirty="0"/>
            </a:br>
            <a:r>
              <a:rPr lang="en-IN" dirty="0"/>
              <a:t>➢ </a:t>
            </a:r>
            <a:r>
              <a:rPr lang="en-IN" b="1" dirty="0"/>
              <a:t>Benefit:</a:t>
            </a:r>
            <a:r>
              <a:rPr lang="en-IN" dirty="0"/>
              <a:t> Guides farmers toward better farming practices while improving their readiness.</a:t>
            </a:r>
          </a:p>
          <a:p>
            <a:pPr>
              <a:buNone/>
            </a:pPr>
            <a:r>
              <a:rPr lang="en-IN" dirty="0"/>
              <a:t>☐ </a:t>
            </a:r>
            <a:r>
              <a:rPr lang="en-IN" b="1" dirty="0"/>
              <a:t>Scalable Readiness Framework:</a:t>
            </a:r>
            <a:br>
              <a:rPr lang="en-IN" dirty="0"/>
            </a:br>
            <a:r>
              <a:rPr lang="en-IN" dirty="0"/>
              <a:t>➢ </a:t>
            </a:r>
            <a:r>
              <a:rPr lang="en-IN" b="1" dirty="0"/>
              <a:t>Impact:</a:t>
            </a:r>
            <a:r>
              <a:rPr lang="en-IN" dirty="0"/>
              <a:t> Uses a modular assessment framework that can support different carbon-credit programs, crops and regions.</a:t>
            </a:r>
            <a:br>
              <a:rPr lang="en-IN" dirty="0"/>
            </a:br>
            <a:r>
              <a:rPr lang="en-IN" dirty="0"/>
              <a:t>➢ </a:t>
            </a:r>
            <a:r>
              <a:rPr lang="en-IN" b="1" dirty="0"/>
              <a:t>Benefit:</a:t>
            </a:r>
            <a:r>
              <a:rPr lang="en-IN" dirty="0"/>
              <a:t> Makes the platform adaptable for wider farmer adoption and future real-world deployment.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F32C7FD-AC20-4DD9-D667-CB1863F738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4989" y="1918078"/>
            <a:ext cx="5457298" cy="391994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6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dist="23000" dir="5400000" rotWithShape="0">
              <a:srgbClr val="80808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6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latin typeface="Times New Roman"/>
                <a:ea typeface="Times New Roman"/>
                <a:cs typeface="Times New Roman"/>
                <a:sym typeface="Times New Roman"/>
              </a:rPr>
              <a:t>RESEARCH  AND REFERENCES</a:t>
            </a:r>
            <a:endParaRPr/>
          </a:p>
        </p:txBody>
      </p:sp>
      <p:sp>
        <p:nvSpPr>
          <p:cNvPr id="149" name="Google Shape;149;p6"/>
          <p:cNvSpPr txBox="1"/>
          <p:nvPr/>
        </p:nvSpPr>
        <p:spPr>
          <a:xfrm>
            <a:off x="481584" y="1395246"/>
            <a:ext cx="9183624" cy="2893059"/>
          </a:xfrm>
          <a:prstGeom prst="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spcFirstLastPara="1" wrap="square" lIns="91425" tIns="45700" rIns="91425" bIns="45700" anchor="t" anchorCtr="0">
            <a:spAutoFit/>
          </a:bodyPr>
          <a:lstStyle/>
          <a:p>
            <a:pPr lvl="0" algn="just">
              <a:buSzPts val="2800"/>
            </a:pPr>
            <a:r>
              <a:rPr lang="en-US" dirty="0"/>
              <a:t>📚 RESEARCH &amp; REFERENCES</a:t>
            </a:r>
          </a:p>
          <a:p>
            <a:pPr lvl="0" algn="just">
              <a:buSzPts val="2800"/>
            </a:pPr>
            <a:endParaRPr lang="en-US" dirty="0"/>
          </a:p>
          <a:p>
            <a:pPr algn="just">
              <a:buSzPts val="2800"/>
            </a:pPr>
            <a:r>
              <a:rPr lang="en-US" dirty="0"/>
              <a:t>• Verra — VM0042: Improved Agricultural Land Management (</a:t>
            </a:r>
            <a:r>
              <a:rPr lang="en-IN" dirty="0">
                <a:hlinkClick r:id="rId3" action="ppaction://hlinkfile"/>
              </a:rPr>
              <a:t>verra.org</a:t>
            </a:r>
            <a:r>
              <a:rPr lang="en-US" dirty="0"/>
              <a:t>)</a:t>
            </a:r>
          </a:p>
          <a:p>
            <a:pPr lvl="0" algn="just">
              <a:buSzPts val="2800"/>
            </a:pPr>
            <a:r>
              <a:rPr lang="en-US" dirty="0"/>
              <a:t>  Agricultural practices, soil carbon &amp; GHG reduction/removal</a:t>
            </a:r>
          </a:p>
          <a:p>
            <a:pPr lvl="0" algn="just">
              <a:buSzPts val="2800"/>
            </a:pPr>
            <a:endParaRPr lang="en-US" dirty="0"/>
          </a:p>
          <a:p>
            <a:pPr lvl="0" algn="just">
              <a:buSzPts val="2800"/>
            </a:pPr>
            <a:r>
              <a:rPr lang="en-US" dirty="0"/>
              <a:t>• World Bank — Carbon Market MRV Framework (</a:t>
            </a:r>
            <a:r>
              <a:rPr lang="en-US" dirty="0">
                <a:hlinkClick r:id="rId4" action="ppaction://hlinkfile"/>
              </a:rPr>
              <a:t>worldbank.org</a:t>
            </a:r>
            <a:r>
              <a:rPr lang="en-US" dirty="0"/>
              <a:t>)</a:t>
            </a:r>
          </a:p>
          <a:p>
            <a:pPr lvl="0" algn="just">
              <a:buSzPts val="2800"/>
            </a:pPr>
            <a:r>
              <a:rPr lang="en-US" dirty="0"/>
              <a:t>  Measurement, Reporting &amp; Verification of carbon reductions</a:t>
            </a:r>
          </a:p>
          <a:p>
            <a:pPr lvl="0" algn="just">
              <a:buSzPts val="2800"/>
            </a:pPr>
            <a:endParaRPr lang="en-US" dirty="0"/>
          </a:p>
          <a:p>
            <a:pPr lvl="0" algn="just">
              <a:buSzPts val="2800"/>
            </a:pPr>
            <a:r>
              <a:rPr lang="en-US" dirty="0"/>
              <a:t>• FAO — Climate-Smart Agriculture Sourcebook (</a:t>
            </a:r>
            <a:r>
              <a:rPr lang="en-US" dirty="0">
                <a:hlinkClick r:id="rId5" action="ppaction://hlinkfile"/>
              </a:rPr>
              <a:t>fao.org</a:t>
            </a:r>
            <a:r>
              <a:rPr lang="en-US" dirty="0"/>
              <a:t>)</a:t>
            </a:r>
          </a:p>
          <a:p>
            <a:pPr lvl="0" algn="just">
              <a:buSzPts val="2800"/>
            </a:pPr>
            <a:r>
              <a:rPr lang="en-US" dirty="0"/>
              <a:t>  Soil organic carbon, sustainable agriculture &amp; resilience</a:t>
            </a:r>
          </a:p>
          <a:p>
            <a:pPr lvl="0" algn="just">
              <a:buSzPts val="2800"/>
            </a:pPr>
            <a:endParaRPr lang="en-US" dirty="0"/>
          </a:p>
          <a:p>
            <a:pPr lvl="0" algn="just">
              <a:buSzPts val="2800"/>
            </a:pPr>
            <a:r>
              <a:rPr lang="en-US" dirty="0"/>
              <a:t>• Verra — VM0042 FAQs &amp; Methodology Resources</a:t>
            </a:r>
          </a:p>
          <a:p>
            <a:pPr lvl="0" algn="just">
              <a:buSzPts val="2800"/>
            </a:pPr>
            <a:r>
              <a:rPr lang="en-US" dirty="0"/>
              <a:t>  Fertilizer, irrigation, tillage, residue &amp; crop-management practices</a:t>
            </a:r>
            <a:endParaRPr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lang="en-US" sz="1200" b="1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6</a:t>
            </a:fld>
            <a:endParaRPr sz="1200" b="1" i="0" u="none" strike="noStrike" cap="non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51" name="Google Shape;151;p6"/>
          <p:cNvSpPr txBox="1">
            <a:spLocks noGrp="1"/>
          </p:cNvSpPr>
          <p:nvPr>
            <p:ph type="ftr" idx="11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@</a:t>
            </a:r>
            <a:r>
              <a:rPr lang="en-US">
                <a:solidFill>
                  <a:schemeClr val="lt1"/>
                </a:solidFill>
              </a:rPr>
              <a:t>BITSHIFT</a:t>
            </a:r>
            <a:r>
              <a:rPr lang="en-US" sz="1200" b="0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 Idea submission- Template</a:t>
            </a:r>
            <a:endParaRPr sz="1200" b="0" i="0" u="none" strike="noStrike" cap="non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52" name="Google Shape;152;p6" descr="Your startup LOGO"/>
          <p:cNvSpPr/>
          <p:nvPr/>
        </p:nvSpPr>
        <p:spPr>
          <a:xfrm>
            <a:off x="231450" y="286512"/>
            <a:ext cx="1251857" cy="807334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lang="en-US" sz="18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Omnira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3" name="Google Shape;153;p6"/>
          <p:cNvPicPr preferRelativeResize="0"/>
          <p:nvPr/>
        </p:nvPicPr>
        <p:blipFill rotWithShape="1">
          <a:blip r:embed="rId6">
            <a:alphaModFix/>
          </a:blip>
          <a:srcRect r="13096" b="-9830"/>
          <a:stretch/>
        </p:blipFill>
        <p:spPr>
          <a:xfrm>
            <a:off x="9438825" y="212100"/>
            <a:ext cx="2380700" cy="1687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170</TotalTime>
  <Words>1050</Words>
  <Application>Microsoft Office PowerPoint</Application>
  <PresentationFormat>Widescreen</PresentationFormat>
  <Paragraphs>116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Garamond</vt:lpstr>
      <vt:lpstr>Calibri</vt:lpstr>
      <vt:lpstr>Oswald</vt:lpstr>
      <vt:lpstr>Wingdings</vt:lpstr>
      <vt:lpstr>Times New Roman</vt:lpstr>
      <vt:lpstr>Arial</vt:lpstr>
      <vt:lpstr>Office Theme</vt:lpstr>
      <vt:lpstr>BITSHIFT 2026</vt:lpstr>
      <vt:lpstr> FarmerChoice</vt:lpstr>
      <vt:lpstr>TECHNICAL APPROACH</vt:lpstr>
      <vt:lpstr>FEASIBILITY AND VIABILITY</vt:lpstr>
      <vt:lpstr>IMPACT AND BENEFITS</vt:lpstr>
      <vt:lpstr>RESEARCH  AND 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Crowdfunder</dc:creator>
  <cp:lastModifiedBy>Rounak Sharma</cp:lastModifiedBy>
  <cp:revision>5</cp:revision>
  <dcterms:created xsi:type="dcterms:W3CDTF">2013-12-12T18:46:50Z</dcterms:created>
  <dcterms:modified xsi:type="dcterms:W3CDTF">2026-10-06T03:14:06Z</dcterms:modified>
</cp:coreProperties>
</file>